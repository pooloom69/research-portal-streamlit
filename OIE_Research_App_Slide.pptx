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7" r:id="rId9"/>
    <p:sldId id="263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31"/>
    <p:restoredTop sz="94703"/>
  </p:normalViewPr>
  <p:slideViewPr>
    <p:cSldViewPr snapToGrid="0" snapToObjects="1">
      <p:cViewPr varScale="1">
        <p:scale>
          <a:sx n="112" d="100"/>
          <a:sy n="112" d="100"/>
        </p:scale>
        <p:origin x="192" y="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48439-CB8B-F948-A2BB-57A54B4C0CE3}" type="datetimeFigureOut">
              <a:rPr lang="en-US" smtClean="0"/>
              <a:t>8/8/25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4A2DB-531C-7445-8D03-F7B49D015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5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64A2DB-531C-7445-8D03-F7B49D015E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74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DBerumen@fullcoll.edu" TargetMode="External"/><Relationship Id="rId7" Type="http://schemas.openxmlformats.org/officeDocument/2006/relationships/hyperlink" Target="mailto:01958619@fullcoll.edu" TargetMode="External"/><Relationship Id="rId2" Type="http://schemas.openxmlformats.org/officeDocument/2006/relationships/hyperlink" Target="mailto:VManchik@fullcoll.edu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Gieck@fullcoll.edu" TargetMode="External"/><Relationship Id="rId5" Type="http://schemas.openxmlformats.org/officeDocument/2006/relationships/hyperlink" Target="mailto:KCorona@fullcoll.edu" TargetMode="External"/><Relationship Id="rId4" Type="http://schemas.openxmlformats.org/officeDocument/2006/relationships/hyperlink" Target="mailto:BGladen@fullcoll.edu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OIE Query Vault 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Secure Research File Access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Summary of roles, specs, and actions for 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ACT team collaboration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374655-806C-6A95-C752-77AA3FDB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OIE Query Vault App – Overview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FC06-5A07-A78B-026C-8452B514E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348809"/>
            <a:ext cx="7626096" cy="418868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OIE Research App is a secure, web-based internal tool developed for the Office of Institutional Effectiveness at Fullerton College. It enables staff to access, filter, and download key project files and metadata through an intuitive interface.</a:t>
            </a:r>
          </a:p>
          <a:p>
            <a:pPr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(Python)</a:t>
            </a:r>
          </a:p>
          <a:p>
            <a:pPr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Backend: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Python, integrated with Azure App Service</a:t>
            </a:r>
          </a:p>
          <a:p>
            <a:pPr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Key Features: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login process is handled securely by Microsoft’s identity platform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Search and filter project documentation by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Preview and download selected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Metadata view including author and last updated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CI/CD pipeline deployment through Azure DevOps</a:t>
            </a:r>
          </a:p>
          <a:p>
            <a:pPr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streamline internal data research and document access workflows while ensuring role-based access and secure deployment within the school’s Azure environment.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Target Users: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Staff members of the Office of Institutional Effectiveness (OIE)</a:t>
            </a:r>
          </a:p>
          <a:p>
            <a:pPr>
              <a:lnSpc>
                <a:spcPct val="9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2664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7126"/>
            <a:ext cx="8375586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Azure App Registration Guide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C0A97C-40A0-5BC8-13D8-42F780BE7B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932952"/>
              </p:ext>
            </p:extLst>
          </p:nvPr>
        </p:nvGraphicFramePr>
        <p:xfrm>
          <a:off x="693683" y="2567444"/>
          <a:ext cx="8098273" cy="3559138"/>
        </p:xfrm>
        <a:graphic>
          <a:graphicData uri="http://schemas.openxmlformats.org/drawingml/2006/table">
            <a:tbl>
              <a:tblPr firstRow="1" bandRow="1"/>
              <a:tblGrid>
                <a:gridCol w="1261241">
                  <a:extLst>
                    <a:ext uri="{9D8B030D-6E8A-4147-A177-3AD203B41FA5}">
                      <a16:colId xmlns:a16="http://schemas.microsoft.com/office/drawing/2014/main" val="2736090512"/>
                    </a:ext>
                  </a:extLst>
                </a:gridCol>
                <a:gridCol w="6837032">
                  <a:extLst>
                    <a:ext uri="{9D8B030D-6E8A-4147-A177-3AD203B41FA5}">
                      <a16:colId xmlns:a16="http://schemas.microsoft.com/office/drawing/2014/main" val="2181430141"/>
                    </a:ext>
                  </a:extLst>
                </a:gridCol>
              </a:tblGrid>
              <a:tr h="394631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Handled by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 Team</a:t>
                      </a: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998582"/>
                  </a:ext>
                </a:extLst>
              </a:tr>
              <a:tr h="138889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 initial App Registration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Temporarily assign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Developer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role to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Sola </a:t>
                      </a:r>
                      <a:r>
                        <a:rPr lang="en-US" sz="1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Lhim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for: </a:t>
                      </a:r>
                      <a:r>
                        <a:rPr lang="ko-KR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</a:t>
                      </a:r>
                      <a:r>
                        <a:rPr lang="en-US" altLang="ko-K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Adjusting redirect URIs</a:t>
                      </a:r>
                      <a:r>
                        <a:rPr lang="ko-KR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                 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Troubleshooting login flows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Role can be revoked after deployment</a:t>
                      </a: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380132"/>
                  </a:ext>
                </a:extLst>
              </a:tr>
              <a:tr h="664022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Credentials Needed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 ID</a:t>
                      </a:r>
                      <a:r>
                        <a:rPr lang="en-US" altLang="ko-K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Tenant ID</a:t>
                      </a:r>
                      <a:r>
                        <a:rPr lang="en-US" altLang="ko-K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Azure Subscription ID</a:t>
                      </a:r>
                      <a:r>
                        <a:rPr lang="en-US" altLang="ko-K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ko-KR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Resource Group Name</a:t>
                      </a: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7166"/>
                  </a:ext>
                </a:extLst>
              </a:tr>
              <a:tr h="630349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Justification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Developer role allows only basic setting updates - Sensitive settings (e.g., login restrictions) remain under ACT’s control</a:t>
                      </a: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180952"/>
                  </a:ext>
                </a:extLst>
              </a:tr>
              <a:tr h="410690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Additional Request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 auto-created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 Principal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as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Contributor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the new Resource Group → Required for CI/CD pipeline deployment</a:t>
                      </a:r>
                    </a:p>
                  </a:txBody>
                  <a:tcPr marL="54526" marR="54526" marT="27263" marB="27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2326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7126"/>
            <a:ext cx="8375586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App Registration - Specs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455CBC-F309-29E4-A191-E153630388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037081"/>
              </p:ext>
            </p:extLst>
          </p:nvPr>
        </p:nvGraphicFramePr>
        <p:xfrm>
          <a:off x="836676" y="2611108"/>
          <a:ext cx="7626097" cy="3311154"/>
        </p:xfrm>
        <a:graphic>
          <a:graphicData uri="http://schemas.openxmlformats.org/drawingml/2006/table">
            <a:tbl>
              <a:tblPr/>
              <a:tblGrid>
                <a:gridCol w="2626052">
                  <a:extLst>
                    <a:ext uri="{9D8B030D-6E8A-4147-A177-3AD203B41FA5}">
                      <a16:colId xmlns:a16="http://schemas.microsoft.com/office/drawing/2014/main" val="2233406388"/>
                    </a:ext>
                  </a:extLst>
                </a:gridCol>
                <a:gridCol w="5000045">
                  <a:extLst>
                    <a:ext uri="{9D8B030D-6E8A-4147-A177-3AD203B41FA5}">
                      <a16:colId xmlns:a16="http://schemas.microsoft.com/office/drawing/2014/main" val="1456890316"/>
                    </a:ext>
                  </a:extLst>
                </a:gridCol>
              </a:tblGrid>
              <a:tr h="342506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Field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343664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Name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OIE Research App</a:t>
                      </a: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485261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Internal research file manager (Microsoft login only)</a:t>
                      </a: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399232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 OIE with organized file access in Azure</a:t>
                      </a: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506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Supported Account Type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tenant (School Entra ID)</a:t>
                      </a: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625142"/>
                  </a:ext>
                </a:extLst>
              </a:tr>
              <a:tr h="571106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Redirect URI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https://oie-research-app-fpabbkg3fdfxg6c0.westus-01.azurewebsites.net/.auth/login/aad/callback</a:t>
                      </a: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529315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Login Restriction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School Microsoft accounts only</a:t>
                      </a: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573370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Assignment Required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Enabled</a:t>
                      </a: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410613"/>
                  </a:ext>
                </a:extLst>
              </a:tr>
              <a:tr h="342506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 Permission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Microsoft Graph &gt;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User.Read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only</a:t>
                      </a:r>
                    </a:p>
                  </a:txBody>
                  <a:tcPr marL="77331" marR="77331" marT="38665" marB="38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6532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Platform &amp; Team</a:t>
            </a:r>
            <a:r>
              <a:rPr lang="ko-KR" alt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ko-KR" sz="3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User Assignment required setting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3817FD-2635-EFAE-FE33-CC5362B9B5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986635"/>
              </p:ext>
            </p:extLst>
          </p:nvPr>
        </p:nvGraphicFramePr>
        <p:xfrm>
          <a:off x="836676" y="2907021"/>
          <a:ext cx="3247256" cy="2728474"/>
        </p:xfrm>
        <a:graphic>
          <a:graphicData uri="http://schemas.openxmlformats.org/drawingml/2006/table">
            <a:tbl>
              <a:tblPr/>
              <a:tblGrid>
                <a:gridCol w="1623628">
                  <a:extLst>
                    <a:ext uri="{9D8B030D-6E8A-4147-A177-3AD203B41FA5}">
                      <a16:colId xmlns:a16="http://schemas.microsoft.com/office/drawing/2014/main" val="868410676"/>
                    </a:ext>
                  </a:extLst>
                </a:gridCol>
                <a:gridCol w="1623628">
                  <a:extLst>
                    <a:ext uri="{9D8B030D-6E8A-4147-A177-3AD203B41FA5}">
                      <a16:colId xmlns:a16="http://schemas.microsoft.com/office/drawing/2014/main" val="297244926"/>
                    </a:ext>
                  </a:extLst>
                </a:gridCol>
              </a:tblGrid>
              <a:tr h="53274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Details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960358"/>
                  </a:ext>
                </a:extLst>
              </a:tr>
              <a:tr h="532742"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 Type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138589"/>
                  </a:ext>
                </a:extLst>
              </a:tr>
              <a:tr h="565124"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Frontend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Streamlit (Python)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976973"/>
                  </a:ext>
                </a:extLst>
              </a:tr>
              <a:tr h="53274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847912"/>
                  </a:ext>
                </a:extLst>
              </a:tr>
              <a:tr h="565124">
                <a:tc>
                  <a:txBody>
                    <a:bodyPr/>
                    <a:lstStyle/>
                    <a:p>
                      <a:r>
                        <a:rPr 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Hosting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App Service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8829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0B1C02-DA7F-5285-55C3-9A19C032E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268990"/>
              </p:ext>
            </p:extLst>
          </p:nvPr>
        </p:nvGraphicFramePr>
        <p:xfrm>
          <a:off x="4354150" y="3101834"/>
          <a:ext cx="4437806" cy="2653632"/>
        </p:xfrm>
        <a:graphic>
          <a:graphicData uri="http://schemas.openxmlformats.org/drawingml/2006/table">
            <a:tbl>
              <a:tblPr/>
              <a:tblGrid>
                <a:gridCol w="1479269">
                  <a:extLst>
                    <a:ext uri="{9D8B030D-6E8A-4147-A177-3AD203B41FA5}">
                      <a16:colId xmlns:a16="http://schemas.microsoft.com/office/drawing/2014/main" val="1007412118"/>
                    </a:ext>
                  </a:extLst>
                </a:gridCol>
                <a:gridCol w="1259186">
                  <a:extLst>
                    <a:ext uri="{9D8B030D-6E8A-4147-A177-3AD203B41FA5}">
                      <a16:colId xmlns:a16="http://schemas.microsoft.com/office/drawing/2014/main" val="3176566481"/>
                    </a:ext>
                  </a:extLst>
                </a:gridCol>
                <a:gridCol w="1699351">
                  <a:extLst>
                    <a:ext uri="{9D8B030D-6E8A-4147-A177-3AD203B41FA5}">
                      <a16:colId xmlns:a16="http://schemas.microsoft.com/office/drawing/2014/main" val="3902589301"/>
                    </a:ext>
                  </a:extLst>
                </a:gridCol>
              </a:tblGrid>
              <a:tr h="198997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</a:t>
                      </a:r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Email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84721"/>
                  </a:ext>
                </a:extLst>
              </a:tr>
              <a:tr h="323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Contributor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Victor Manchik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VManchik@fullcoll.edu</a:t>
                      </a:r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059856"/>
                  </a:ext>
                </a:extLst>
              </a:tr>
              <a:tr h="43909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Daniel Berumen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DBerumen@fullcoll.edu</a:t>
                      </a:r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684433"/>
                  </a:ext>
                </a:extLst>
              </a:tr>
              <a:tr h="323370"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Victor Manchik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VManchik@fullcoll.edu</a:t>
                      </a:r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196037"/>
                  </a:ext>
                </a:extLst>
              </a:tr>
              <a:tr h="323370"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Bianca Gladen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4"/>
                        </a:rPr>
                        <a:t>BGladen@fullcoll.edu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342127"/>
                  </a:ext>
                </a:extLst>
              </a:tr>
              <a:tr h="323370"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Karina Corona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  <a:hlinkClick r:id="rId5"/>
                        </a:rPr>
                        <a:t>KCorona@fullcoll.edu</a:t>
                      </a:r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760172"/>
                  </a:ext>
                </a:extLst>
              </a:tr>
              <a:tr h="323370"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Michael Gieck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  <a:hlinkClick r:id="rId6"/>
                        </a:rPr>
                        <a:t>MGieck@fullcoll.edu</a:t>
                      </a:r>
                      <a:endParaRPr lang="en-US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642985"/>
                  </a:ext>
                </a:extLst>
              </a:tr>
              <a:tr h="3233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Contributor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Sola Lhim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7"/>
                        </a:rPr>
                        <a:t>01958619@fullcoll.edu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9390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E9DA1B-5280-7113-F70B-54EB3911680A}"/>
              </a:ext>
            </a:extLst>
          </p:cNvPr>
          <p:cNvSpPr txBox="1"/>
          <p:nvPr/>
        </p:nvSpPr>
        <p:spPr>
          <a:xfrm>
            <a:off x="836676" y="2382780"/>
            <a:ext cx="332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App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FB39B-ACA2-40FA-4F51-EF21625F1785}"/>
              </a:ext>
            </a:extLst>
          </p:cNvPr>
          <p:cNvSpPr txBox="1"/>
          <p:nvPr/>
        </p:nvSpPr>
        <p:spPr>
          <a:xfrm>
            <a:off x="4354150" y="2375654"/>
            <a:ext cx="2735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Access &amp; Ownership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Configure Resource Group Access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4ABEF43-C963-7EAD-B90E-73C539C25B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920817"/>
              </p:ext>
            </p:extLst>
          </p:nvPr>
        </p:nvGraphicFramePr>
        <p:xfrm>
          <a:off x="836676" y="2708027"/>
          <a:ext cx="7626350" cy="2764086"/>
        </p:xfrm>
        <a:graphic>
          <a:graphicData uri="http://schemas.openxmlformats.org/drawingml/2006/table">
            <a:tbl>
              <a:tblPr/>
              <a:tblGrid>
                <a:gridCol w="2220912">
                  <a:extLst>
                    <a:ext uri="{9D8B030D-6E8A-4147-A177-3AD203B41FA5}">
                      <a16:colId xmlns:a16="http://schemas.microsoft.com/office/drawing/2014/main" val="3388354625"/>
                    </a:ext>
                  </a:extLst>
                </a:gridCol>
                <a:gridCol w="5405438">
                  <a:extLst>
                    <a:ext uri="{9D8B030D-6E8A-4147-A177-3AD203B41FA5}">
                      <a16:colId xmlns:a16="http://schemas.microsoft.com/office/drawing/2014/main" val="2311394762"/>
                    </a:ext>
                  </a:extLst>
                </a:gridCol>
              </a:tblGrid>
              <a:tr h="132803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a new Resource Group for this project (separate from production). Assign me as </a:t>
                      </a: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Contributor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scoped to this new group.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221466"/>
                  </a:ext>
                </a:extLst>
              </a:tr>
              <a:tr h="41449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Resources Needed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App Services- Azure Storage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093590"/>
                  </a:ext>
                </a:extLst>
              </a:tr>
              <a:tr h="1021561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No premium-tier or high-cost services will be used.- Will follow any cost control guidelines if required.</a:t>
                      </a:r>
                    </a:p>
                  </a:txBody>
                  <a:tcPr marL="84737" marR="84737" marT="42369" marB="42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6313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 &amp; Backend Summary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DCAA5671-D28A-EC09-0598-0C604F21761E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52521343"/>
              </p:ext>
            </p:extLst>
          </p:nvPr>
        </p:nvGraphicFramePr>
        <p:xfrm>
          <a:off x="836676" y="2351525"/>
          <a:ext cx="7626096" cy="3436351"/>
        </p:xfrm>
        <a:graphic>
          <a:graphicData uri="http://schemas.openxmlformats.org/drawingml/2006/table">
            <a:tbl>
              <a:tblPr/>
              <a:tblGrid>
                <a:gridCol w="2020824">
                  <a:extLst>
                    <a:ext uri="{9D8B030D-6E8A-4147-A177-3AD203B41FA5}">
                      <a16:colId xmlns:a16="http://schemas.microsoft.com/office/drawing/2014/main" val="2679488795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4095330950"/>
                    </a:ext>
                  </a:extLst>
                </a:gridCol>
              </a:tblGrid>
              <a:tr h="648368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Internal tool for the Office of Institutional Effectiveness to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search, preview, and download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files stored in Azure DevOps.</a:t>
                      </a: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735764"/>
                  </a:ext>
                </a:extLst>
              </a:tr>
              <a:tr h="453858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 Stack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Streamlit, Python, Pandas, AgGrid, Azure DevOps REST API</a:t>
                      </a: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222328"/>
                  </a:ext>
                </a:extLst>
              </a:tr>
              <a:tr h="648368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Authentication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Microsoft Entra ID (Azure AD) Single Tenant with Easy Auth; secure access limited to assigned school accounts.</a:t>
                      </a: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89432"/>
                  </a:ext>
                </a:extLst>
              </a:tr>
              <a:tr h="1037389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Cases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Quickly locate research and institutional data files.- Check file metadata (creator, creation date, last modification details).- Download multiple files in a single ZIP, preserving folder structure.</a:t>
                      </a: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719615"/>
                  </a:ext>
                </a:extLst>
              </a:tr>
              <a:tr h="648368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Additional Notes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Secure access prevents unauthorized usage.- Designed for internal OIE team efficiency.</a:t>
                      </a:r>
                    </a:p>
                  </a:txBody>
                  <a:tcPr marL="64837" marR="64837" marT="32418" marB="3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552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260A1-B28E-EC30-4593-A9D95B89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233328-F8F9-1B70-CA60-D47DCA09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Key Features &amp; Performance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01F51A-615C-F2D1-6053-35711E07B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278344"/>
              </p:ext>
            </p:extLst>
          </p:nvPr>
        </p:nvGraphicFramePr>
        <p:xfrm>
          <a:off x="470137" y="2307427"/>
          <a:ext cx="8375584" cy="2634438"/>
        </p:xfrm>
        <a:graphic>
          <a:graphicData uri="http://schemas.openxmlformats.org/drawingml/2006/table">
            <a:tbl>
              <a:tblPr/>
              <a:tblGrid>
                <a:gridCol w="2600609">
                  <a:extLst>
                    <a:ext uri="{9D8B030D-6E8A-4147-A177-3AD203B41FA5}">
                      <a16:colId xmlns:a16="http://schemas.microsoft.com/office/drawing/2014/main" val="217569709"/>
                    </a:ext>
                  </a:extLst>
                </a:gridCol>
                <a:gridCol w="5774975">
                  <a:extLst>
                    <a:ext uri="{9D8B030D-6E8A-4147-A177-3AD203B41FA5}">
                      <a16:colId xmlns:a16="http://schemas.microsoft.com/office/drawing/2014/main" val="694199379"/>
                    </a:ext>
                  </a:extLst>
                </a:gridCol>
              </a:tblGrid>
              <a:tr h="231461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123784"/>
                  </a:ext>
                </a:extLst>
              </a:tr>
              <a:tr h="40430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Listing &amp; Metadata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Retrieves all repository files with author, creation, and modification info (content-based tracking).</a:t>
                      </a: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159710"/>
                  </a:ext>
                </a:extLst>
              </a:tr>
              <a:tr h="246719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&amp; Filter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Filter by project/category, search by keyword, hide placeholder files.</a:t>
                      </a: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373156"/>
                  </a:ext>
                </a:extLst>
              </a:tr>
              <a:tr h="246719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Interactive Table (AgGrid)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Multi-select checkboxes, adjustable column widths, scrollable view.</a:t>
                      </a: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369061"/>
                  </a:ext>
                </a:extLst>
              </a:tr>
              <a:tr h="246719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Preview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first 1,000 characters of supported file types (.py, .csv, .json, etc.).</a:t>
                      </a: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729482"/>
                  </a:ext>
                </a:extLst>
              </a:tr>
              <a:tr h="23146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Download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Batch download selected files as a ZIP with original paths.</a:t>
                      </a: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78090"/>
                  </a:ext>
                </a:extLst>
              </a:tr>
              <a:tr h="404301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Optimizations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Local caching (1-hour TTL) to reduce API calls.- Parallel API requests for faster load times.- Automatic retry with exponential backoff on failures.</a:t>
                      </a:r>
                    </a:p>
                  </a:txBody>
                  <a:tcPr marL="67195" marR="67195" marT="33597" marB="335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81558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1E4A64-ADAA-B260-7C4D-D495AFE2A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428544"/>
              </p:ext>
            </p:extLst>
          </p:nvPr>
        </p:nvGraphicFramePr>
        <p:xfrm>
          <a:off x="418656" y="5088687"/>
          <a:ext cx="8373300" cy="1362422"/>
        </p:xfrm>
        <a:graphic>
          <a:graphicData uri="http://schemas.openxmlformats.org/drawingml/2006/table">
            <a:tbl>
              <a:tblPr/>
              <a:tblGrid>
                <a:gridCol w="2693034">
                  <a:extLst>
                    <a:ext uri="{9D8B030D-6E8A-4147-A177-3AD203B41FA5}">
                      <a16:colId xmlns:a16="http://schemas.microsoft.com/office/drawing/2014/main" val="550599975"/>
                    </a:ext>
                  </a:extLst>
                </a:gridCol>
                <a:gridCol w="5680266">
                  <a:extLst>
                    <a:ext uri="{9D8B030D-6E8A-4147-A177-3AD203B41FA5}">
                      <a16:colId xmlns:a16="http://schemas.microsoft.com/office/drawing/2014/main" val="2190766289"/>
                    </a:ext>
                  </a:extLst>
                </a:gridCol>
              </a:tblGrid>
              <a:tr h="382574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Pipeline Deployment File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890735"/>
                  </a:ext>
                </a:extLst>
              </a:tr>
              <a:tr h="337524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pipeline.yml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Defines build &amp; deploy steps in Azure DevOps.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509715"/>
                  </a:ext>
                </a:extLst>
              </a:tr>
              <a:tr h="201355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requirements.txt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Lists Python dependencies for the app.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161667"/>
                  </a:ext>
                </a:extLst>
              </a:tr>
              <a:tr h="337524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app.py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 application code (UI + backend logic).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325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88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7126"/>
            <a:ext cx="8375586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BE177-F8A3-0BC3-F053-DB37BCD6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3500" b="1" kern="1200" dirty="0">
                <a:latin typeface="Arial" panose="020B0604020202020204" pitchFamily="34" charset="0"/>
                <a:cs typeface="Arial" panose="020B0604020202020204" pitchFamily="34" charset="0"/>
              </a:rPr>
              <a:t>CI/CD Deployment Process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5FA725-4C7A-96B6-2D96-C6FFA4E2B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932689"/>
              </p:ext>
            </p:extLst>
          </p:nvPr>
        </p:nvGraphicFramePr>
        <p:xfrm>
          <a:off x="626813" y="2163443"/>
          <a:ext cx="8165142" cy="437107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27233">
                  <a:extLst>
                    <a:ext uri="{9D8B030D-6E8A-4147-A177-3AD203B41FA5}">
                      <a16:colId xmlns:a16="http://schemas.microsoft.com/office/drawing/2014/main" val="2849710139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152604336"/>
                    </a:ext>
                  </a:extLst>
                </a:gridCol>
                <a:gridCol w="5434158">
                  <a:extLst>
                    <a:ext uri="{9D8B030D-6E8A-4147-A177-3AD203B41FA5}">
                      <a16:colId xmlns:a16="http://schemas.microsoft.com/office/drawing/2014/main" val="3590846776"/>
                    </a:ext>
                  </a:extLst>
                </a:gridCol>
              </a:tblGrid>
              <a:tr h="254230">
                <a:tc>
                  <a:txBody>
                    <a:bodyPr/>
                    <a:lstStyle/>
                    <a:p>
                      <a:r>
                        <a:rPr lang="en-US" sz="12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Step</a:t>
                      </a:r>
                    </a:p>
                  </a:txBody>
                  <a:tcPr marL="122820" marR="92115" marT="61410" marB="6141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</a:t>
                      </a:r>
                    </a:p>
                  </a:txBody>
                  <a:tcPr marL="122820" marR="92115" marT="61410" marB="6141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Details</a:t>
                      </a:r>
                    </a:p>
                  </a:txBody>
                  <a:tcPr marL="122820" marR="92115" marT="61410" marB="6141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02308"/>
                  </a:ext>
                </a:extLst>
              </a:tr>
              <a:tr h="710498">
                <a:tc>
                  <a:txBody>
                    <a:bodyPr/>
                    <a:lstStyle/>
                    <a:p>
                      <a:r>
                        <a:rPr lang="en-US" sz="12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Prepare Environment</a:t>
                      </a: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Resource Group Name </a:t>
                      </a:r>
                    </a:p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ko-KR" alt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Subscription ID</a:t>
                      </a:r>
                      <a:endParaRPr lang="en-US" sz="11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Registration credentials:  Client ID , Tenant ID </a:t>
                      </a:r>
                    </a:p>
                    <a:p>
                      <a:pPr marL="171450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 Principal credentials:  Client ID (App ID) , Client Secret(pat)</a:t>
                      </a: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509118"/>
                  </a:ext>
                </a:extLst>
              </a:tr>
              <a:tr h="710498">
                <a:tc>
                  <a:txBody>
                    <a:bodyPr/>
                    <a:lstStyle/>
                    <a:p>
                      <a:r>
                        <a:rPr lang="en-US" sz="1200" b="1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 Up CI/CD Pipeline</a:t>
                      </a: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Platform: Azure DevOps 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</a:t>
                      </a:r>
                      <a:r>
                        <a:rPr lang="en-US" sz="1100" b="1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 Connection</a:t>
                      </a: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(Azure Resource Manager) 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manual authentication:  Tenant ID , SP Client ID (App ID) , SP Secret  , Subscription ID , Resource Group Name</a:t>
                      </a: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955326"/>
                  </a:ext>
                </a:extLst>
              </a:tr>
              <a:tr h="1318855">
                <a:tc>
                  <a:txBody>
                    <a:bodyPr/>
                    <a:lstStyle/>
                    <a:p>
                      <a:r>
                        <a:rPr lang="en-US" sz="12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Configure Pipeline (YAML)</a:t>
                      </a: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Modify </a:t>
                      </a:r>
                      <a:r>
                        <a:rPr lang="en-US" sz="1100" cap="none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pipeline.yml</a:t>
                      </a: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file: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task: AzureWebApp@1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inputs: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sz="1100" cap="none" spc="0" dirty="0" err="1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azureSubscription</a:t>
                      </a: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"&lt;Service Connection Name&gt;"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en-US" sz="1100" cap="none" spc="0" dirty="0" err="1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appName</a:t>
                      </a: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"&lt;App Service Name&gt;"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package: "$(</a:t>
                      </a:r>
                      <a:r>
                        <a:rPr lang="en-US" sz="1100" cap="none" spc="0" dirty="0" err="1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System.DefaultWorkingDirectory</a:t>
                      </a: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)/</a:t>
                      </a:r>
                      <a:r>
                        <a:rPr lang="en-US" sz="1100" cap="none" spc="0" dirty="0" err="1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app.zip</a:t>
                      </a: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”</a:t>
                      </a:r>
                      <a:endParaRPr lang="en-US" sz="11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Set: App Service name, Resource Group, and environment variables (OIE_PAT, CLIENT_ID, TENANT_ID)</a:t>
                      </a:r>
                      <a:r>
                        <a:rPr lang="ko-KR" alt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altLang="ko-KR" sz="11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53808"/>
                  </a:ext>
                </a:extLst>
              </a:tr>
              <a:tr h="1014676">
                <a:tc>
                  <a:txBody>
                    <a:bodyPr/>
                    <a:lstStyle/>
                    <a:p>
                      <a:r>
                        <a:rPr lang="en-US" sz="1200" b="1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 App Configuration</a:t>
                      </a: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 A: Azure Portal → App Service → Configuration 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 B: CLI: 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--name &lt;app-name&gt; \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--resource-group &lt;resource-group-name&gt; \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cap="none" spc="0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--settings OIE_PAT=xxx CLIENT_ID=xxx TENANT_ID=xxx</a:t>
                      </a:r>
                    </a:p>
                  </a:txBody>
                  <a:tcPr marL="122820" marR="92115" marT="61410" marB="614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88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2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773011-4528-532F-1045-DEF4862676FE}"/>
              </a:ext>
            </a:extLst>
          </p:cNvPr>
          <p:cNvSpPr txBox="1"/>
          <p:nvPr/>
        </p:nvSpPr>
        <p:spPr>
          <a:xfrm>
            <a:off x="628649" y="1093788"/>
            <a:ext cx="7879841" cy="29672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433116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03304" y="2842186"/>
            <a:ext cx="54864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677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14076</TotalTime>
  <Words>979</Words>
  <Application>Microsoft Macintosh PowerPoint</Application>
  <PresentationFormat>On-screen Show (4:3)</PresentationFormat>
  <Paragraphs>156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Courier New</vt:lpstr>
      <vt:lpstr>Office Theme</vt:lpstr>
      <vt:lpstr>OIE Query Vault  – Secure Research File Access</vt:lpstr>
      <vt:lpstr>OIE Query Vault App – Overview</vt:lpstr>
      <vt:lpstr>Azure App Registration Guide</vt:lpstr>
      <vt:lpstr>App Registration - Specs</vt:lpstr>
      <vt:lpstr>Platform &amp; Team  – User Assignment required setting</vt:lpstr>
      <vt:lpstr>Configure Resource Group Access</vt:lpstr>
      <vt:lpstr>Frontend &amp; Backend Summary</vt:lpstr>
      <vt:lpstr>Key Features &amp; Performance</vt:lpstr>
      <vt:lpstr>CI/CD Deployment Process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01958619</cp:lastModifiedBy>
  <cp:revision>20</cp:revision>
  <dcterms:created xsi:type="dcterms:W3CDTF">2013-01-27T09:14:16Z</dcterms:created>
  <dcterms:modified xsi:type="dcterms:W3CDTF">2025-08-13T16:52:13Z</dcterms:modified>
  <cp:category/>
</cp:coreProperties>
</file>